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Lst>
  <p:sldSz cx="73152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46"/>
    <p:restoredTop sz="96327"/>
  </p:normalViewPr>
  <p:slideViewPr>
    <p:cSldViewPr snapToGrid="0">
      <p:cViewPr>
        <p:scale>
          <a:sx n="298" d="100"/>
          <a:sy n="298" d="100"/>
        </p:scale>
        <p:origin x="264" y="-5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646133"/>
            <a:ext cx="6217920" cy="3501813"/>
          </a:xfrm>
        </p:spPr>
        <p:txBody>
          <a:bodyPr anchor="b"/>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914400" y="5282989"/>
            <a:ext cx="5486400" cy="2428451"/>
          </a:xfrm>
        </p:spPr>
        <p:txBody>
          <a:bodyPr/>
          <a:lstStyle>
            <a:lvl1pPr marL="0" indent="0" algn="ctr">
              <a:buNone/>
              <a:defRPr sz="1920"/>
            </a:lvl1pPr>
            <a:lvl2pPr marL="365760" indent="0" algn="ctr">
              <a:buNone/>
              <a:defRPr sz="1600"/>
            </a:lvl2pPr>
            <a:lvl3pPr marL="731520" indent="0" algn="ctr">
              <a:buNone/>
              <a:defRPr sz="1440"/>
            </a:lvl3pPr>
            <a:lvl4pPr marL="1097280" indent="0" algn="ctr">
              <a:buNone/>
              <a:defRPr sz="1280"/>
            </a:lvl4pPr>
            <a:lvl5pPr marL="1463040" indent="0" algn="ctr">
              <a:buNone/>
              <a:defRPr sz="1280"/>
            </a:lvl5pPr>
            <a:lvl6pPr marL="1828800" indent="0" algn="ctr">
              <a:buNone/>
              <a:defRPr sz="1280"/>
            </a:lvl6pPr>
            <a:lvl7pPr marL="2194560" indent="0" algn="ctr">
              <a:buNone/>
              <a:defRPr sz="1280"/>
            </a:lvl7pPr>
            <a:lvl8pPr marL="2560320" indent="0" algn="ctr">
              <a:buNone/>
              <a:defRPr sz="1280"/>
            </a:lvl8pPr>
            <a:lvl9pPr marL="2926080" indent="0" algn="ctr">
              <a:buNone/>
              <a:defRPr sz="12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568937-B1C1-CD42-966F-0A31D19E5FDA}" type="datetimeFigureOut">
              <a:rPr lang="en-US" smtClean="0"/>
              <a:t>12/27/23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3054080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568937-B1C1-CD42-966F-0A31D19E5FDA}" type="datetimeFigureOut">
              <a:rPr lang="en-US" smtClean="0"/>
              <a:t>12/27/23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1210526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99110" y="2507618"/>
            <a:ext cx="6309360" cy="4184014"/>
          </a:xfrm>
        </p:spPr>
        <p:txBody>
          <a:bodyPr anchor="b"/>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499110" y="6731215"/>
            <a:ext cx="6309360" cy="2200274"/>
          </a:xfrm>
        </p:spPr>
        <p:txBody>
          <a:bodyPr/>
          <a:lstStyle>
            <a:lvl1pPr marL="0" indent="0">
              <a:buNone/>
              <a:defRPr sz="1920">
                <a:solidFill>
                  <a:schemeClr val="tx1"/>
                </a:solidFill>
              </a:defRPr>
            </a:lvl1pPr>
            <a:lvl2pPr marL="365760" indent="0">
              <a:buNone/>
              <a:defRPr sz="1600">
                <a:solidFill>
                  <a:schemeClr val="tx1">
                    <a:tint val="75000"/>
                  </a:schemeClr>
                </a:solidFill>
              </a:defRPr>
            </a:lvl2pPr>
            <a:lvl3pPr marL="731520" indent="0">
              <a:buNone/>
              <a:defRPr sz="1440">
                <a:solidFill>
                  <a:schemeClr val="tx1">
                    <a:tint val="75000"/>
                  </a:schemeClr>
                </a:solidFill>
              </a:defRPr>
            </a:lvl3pPr>
            <a:lvl4pPr marL="1097280" indent="0">
              <a:buNone/>
              <a:defRPr sz="1280">
                <a:solidFill>
                  <a:schemeClr val="tx1">
                    <a:tint val="75000"/>
                  </a:schemeClr>
                </a:solidFill>
              </a:defRPr>
            </a:lvl4pPr>
            <a:lvl5pPr marL="1463040" indent="0">
              <a:buNone/>
              <a:defRPr sz="1280">
                <a:solidFill>
                  <a:schemeClr val="tx1">
                    <a:tint val="75000"/>
                  </a:schemeClr>
                </a:solidFill>
              </a:defRPr>
            </a:lvl5pPr>
            <a:lvl6pPr marL="1828800" indent="0">
              <a:buNone/>
              <a:defRPr sz="1280">
                <a:solidFill>
                  <a:schemeClr val="tx1">
                    <a:tint val="75000"/>
                  </a:schemeClr>
                </a:solidFill>
              </a:defRPr>
            </a:lvl6pPr>
            <a:lvl7pPr marL="2194560" indent="0">
              <a:buNone/>
              <a:defRPr sz="1280">
                <a:solidFill>
                  <a:schemeClr val="tx1">
                    <a:tint val="75000"/>
                  </a:schemeClr>
                </a:solidFill>
              </a:defRPr>
            </a:lvl7pPr>
            <a:lvl8pPr marL="2560320" indent="0">
              <a:buNone/>
              <a:defRPr sz="1280">
                <a:solidFill>
                  <a:schemeClr val="tx1">
                    <a:tint val="75000"/>
                  </a:schemeClr>
                </a:solidFill>
              </a:defRPr>
            </a:lvl8pPr>
            <a:lvl9pPr marL="2926080" indent="0">
              <a:buNone/>
              <a:defRPr sz="12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568937-B1C1-CD42-966F-0A31D19E5FDA}" type="datetimeFigureOut">
              <a:rPr lang="en-US" smtClean="0"/>
              <a:t>12/27/23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911124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2920" y="2677584"/>
            <a:ext cx="310896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703320" y="2677584"/>
            <a:ext cx="310896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568937-B1C1-CD42-966F-0A31D19E5FDA}" type="datetimeFigureOut">
              <a:rPr lang="en-US" smtClean="0"/>
              <a:t>12/27/23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1110429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3873" y="535519"/>
            <a:ext cx="6309360"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03874" y="2465706"/>
            <a:ext cx="3094672" cy="1208404"/>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en-US"/>
              <a:t>Click to edit Master text styles</a:t>
            </a:r>
          </a:p>
        </p:txBody>
      </p:sp>
      <p:sp>
        <p:nvSpPr>
          <p:cNvPr id="4" name="Content Placeholder 3"/>
          <p:cNvSpPr>
            <a:spLocks noGrp="1"/>
          </p:cNvSpPr>
          <p:nvPr>
            <p:ph sz="half" idx="2"/>
          </p:nvPr>
        </p:nvSpPr>
        <p:spPr>
          <a:xfrm>
            <a:off x="503874" y="3674110"/>
            <a:ext cx="309467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703320" y="2465706"/>
            <a:ext cx="3109913" cy="1208404"/>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en-US"/>
              <a:t>Click to edit Master text styles</a:t>
            </a:r>
          </a:p>
        </p:txBody>
      </p:sp>
      <p:sp>
        <p:nvSpPr>
          <p:cNvPr id="6" name="Content Placeholder 5"/>
          <p:cNvSpPr>
            <a:spLocks noGrp="1"/>
          </p:cNvSpPr>
          <p:nvPr>
            <p:ph sz="quarter" idx="4"/>
          </p:nvPr>
        </p:nvSpPr>
        <p:spPr>
          <a:xfrm>
            <a:off x="3703320" y="3674110"/>
            <a:ext cx="3109913"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568937-B1C1-CD42-966F-0A31D19E5FDA}" type="datetimeFigureOut">
              <a:rPr lang="en-US" smtClean="0"/>
              <a:t>12/27/23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1531557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568937-B1C1-CD42-966F-0A31D19E5FDA}" type="datetimeFigureOut">
              <a:rPr lang="en-US" smtClean="0"/>
              <a:t>12/27/23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1072504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568937-B1C1-CD42-966F-0A31D19E5FDA}" type="datetimeFigureOut">
              <a:rPr lang="en-US" smtClean="0"/>
              <a:t>12/27/23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3830578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873" y="670560"/>
            <a:ext cx="2359342" cy="2346960"/>
          </a:xfrm>
        </p:spPr>
        <p:txBody>
          <a:bodyPr anchor="b"/>
          <a:lstStyle>
            <a:lvl1pPr>
              <a:defRPr sz="2560"/>
            </a:lvl1pPr>
          </a:lstStyle>
          <a:p>
            <a:r>
              <a:rPr lang="en-US"/>
              <a:t>Click to edit Master title style</a:t>
            </a:r>
            <a:endParaRPr lang="en-US" dirty="0"/>
          </a:p>
        </p:txBody>
      </p:sp>
      <p:sp>
        <p:nvSpPr>
          <p:cNvPr id="3" name="Content Placeholder 2"/>
          <p:cNvSpPr>
            <a:spLocks noGrp="1"/>
          </p:cNvSpPr>
          <p:nvPr>
            <p:ph idx="1"/>
          </p:nvPr>
        </p:nvSpPr>
        <p:spPr>
          <a:xfrm>
            <a:off x="3109913" y="1448226"/>
            <a:ext cx="3703320" cy="7147983"/>
          </a:xfrm>
        </p:spPr>
        <p:txBody>
          <a:bodyPr/>
          <a:lstStyle>
            <a:lvl1pPr>
              <a:defRPr sz="2560"/>
            </a:lvl1pPr>
            <a:lvl2pPr>
              <a:defRPr sz="2240"/>
            </a:lvl2pPr>
            <a:lvl3pPr>
              <a:defRPr sz="192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3873" y="3017520"/>
            <a:ext cx="2359342" cy="5590329"/>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p>
            <a:fld id="{C3568937-B1C1-CD42-966F-0A31D19E5FDA}" type="datetimeFigureOut">
              <a:rPr lang="en-US" smtClean="0"/>
              <a:t>12/27/23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1095898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873" y="670560"/>
            <a:ext cx="2359342" cy="2346960"/>
          </a:xfrm>
        </p:spPr>
        <p:txBody>
          <a:bodyPr anchor="b"/>
          <a:lstStyle>
            <a:lvl1pPr>
              <a:defRPr sz="2560"/>
            </a:lvl1pPr>
          </a:lstStyle>
          <a:p>
            <a:r>
              <a:rPr lang="en-US"/>
              <a:t>Click to edit Master title style</a:t>
            </a:r>
            <a:endParaRPr lang="en-US" dirty="0"/>
          </a:p>
        </p:txBody>
      </p:sp>
      <p:sp>
        <p:nvSpPr>
          <p:cNvPr id="3" name="Picture Placeholder 2"/>
          <p:cNvSpPr>
            <a:spLocks noGrp="1" noChangeAspect="1"/>
          </p:cNvSpPr>
          <p:nvPr>
            <p:ph type="pic" idx="1"/>
          </p:nvPr>
        </p:nvSpPr>
        <p:spPr>
          <a:xfrm>
            <a:off x="3109913" y="1448226"/>
            <a:ext cx="3703320" cy="7147983"/>
          </a:xfrm>
        </p:spPr>
        <p:txBody>
          <a:bodyPr anchor="t"/>
          <a:lstStyle>
            <a:lvl1pPr marL="0" indent="0">
              <a:buNone/>
              <a:defRPr sz="2560"/>
            </a:lvl1pPr>
            <a:lvl2pPr marL="365760" indent="0">
              <a:buNone/>
              <a:defRPr sz="2240"/>
            </a:lvl2pPr>
            <a:lvl3pPr marL="731520" indent="0">
              <a:buNone/>
              <a:defRPr sz="1920"/>
            </a:lvl3pPr>
            <a:lvl4pPr marL="1097280" indent="0">
              <a:buNone/>
              <a:defRPr sz="1600"/>
            </a:lvl4pPr>
            <a:lvl5pPr marL="1463040" indent="0">
              <a:buNone/>
              <a:defRPr sz="1600"/>
            </a:lvl5pPr>
            <a:lvl6pPr marL="1828800" indent="0">
              <a:buNone/>
              <a:defRPr sz="1600"/>
            </a:lvl6pPr>
            <a:lvl7pPr marL="2194560" indent="0">
              <a:buNone/>
              <a:defRPr sz="1600"/>
            </a:lvl7pPr>
            <a:lvl8pPr marL="2560320" indent="0">
              <a:buNone/>
              <a:defRPr sz="1600"/>
            </a:lvl8pPr>
            <a:lvl9pPr marL="292608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03873" y="3017520"/>
            <a:ext cx="2359342" cy="5590329"/>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p>
            <a:fld id="{C3568937-B1C1-CD42-966F-0A31D19E5FDA}" type="datetimeFigureOut">
              <a:rPr lang="en-US" smtClean="0"/>
              <a:t>12/27/23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380763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568937-B1C1-CD42-966F-0A31D19E5FDA}" type="datetimeFigureOut">
              <a:rPr lang="en-US" smtClean="0"/>
              <a:t>12/27/23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1273359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234940" y="535517"/>
            <a:ext cx="1577340"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02920" y="535517"/>
            <a:ext cx="4640580"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568937-B1C1-CD42-966F-0A31D19E5FDA}" type="datetimeFigureOut">
              <a:rPr lang="en-US" smtClean="0"/>
              <a:t>12/27/23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C33BD-89E5-9242-A239-67B579CB87A0}" type="slidenum">
              <a:rPr lang="en-US" smtClean="0"/>
              <a:t>‹#›</a:t>
            </a:fld>
            <a:endParaRPr lang="en-US"/>
          </a:p>
        </p:txBody>
      </p:sp>
    </p:spTree>
    <p:extLst>
      <p:ext uri="{BB962C8B-B14F-4D97-AF65-F5344CB8AC3E}">
        <p14:creationId xmlns:p14="http://schemas.microsoft.com/office/powerpoint/2010/main" val="4193963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920" y="535519"/>
            <a:ext cx="6309360"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02920" y="2677584"/>
            <a:ext cx="6309360"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02920" y="9322649"/>
            <a:ext cx="1645920" cy="535517"/>
          </a:xfrm>
          <a:prstGeom prst="rect">
            <a:avLst/>
          </a:prstGeom>
        </p:spPr>
        <p:txBody>
          <a:bodyPr vert="horz" lIns="91440" tIns="45720" rIns="91440" bIns="45720" rtlCol="0" anchor="ctr"/>
          <a:lstStyle>
            <a:lvl1pPr algn="l">
              <a:defRPr sz="960">
                <a:solidFill>
                  <a:schemeClr val="tx1">
                    <a:tint val="75000"/>
                  </a:schemeClr>
                </a:solidFill>
              </a:defRPr>
            </a:lvl1pPr>
          </a:lstStyle>
          <a:p>
            <a:fld id="{C3568937-B1C1-CD42-966F-0A31D19E5FDA}" type="datetimeFigureOut">
              <a:rPr lang="en-US" smtClean="0"/>
              <a:t>12/27/23</a:t>
            </a:fld>
            <a:endParaRPr lang="en-US"/>
          </a:p>
        </p:txBody>
      </p:sp>
      <p:sp>
        <p:nvSpPr>
          <p:cNvPr id="5" name="Footer Placeholder 4"/>
          <p:cNvSpPr>
            <a:spLocks noGrp="1"/>
          </p:cNvSpPr>
          <p:nvPr>
            <p:ph type="ftr" sz="quarter" idx="3"/>
          </p:nvPr>
        </p:nvSpPr>
        <p:spPr>
          <a:xfrm>
            <a:off x="2423160" y="9322649"/>
            <a:ext cx="2468880" cy="535517"/>
          </a:xfrm>
          <a:prstGeom prst="rect">
            <a:avLst/>
          </a:prstGeom>
        </p:spPr>
        <p:txBody>
          <a:bodyPr vert="horz" lIns="91440" tIns="45720" rIns="91440" bIns="45720" rtlCol="0" anchor="ctr"/>
          <a:lstStyle>
            <a:lvl1pPr algn="ctr">
              <a:defRPr sz="9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166360" y="9322649"/>
            <a:ext cx="1645920" cy="535517"/>
          </a:xfrm>
          <a:prstGeom prst="rect">
            <a:avLst/>
          </a:prstGeom>
        </p:spPr>
        <p:txBody>
          <a:bodyPr vert="horz" lIns="91440" tIns="45720" rIns="91440" bIns="45720" rtlCol="0" anchor="ctr"/>
          <a:lstStyle>
            <a:lvl1pPr algn="r">
              <a:defRPr sz="960">
                <a:solidFill>
                  <a:schemeClr val="tx1">
                    <a:tint val="75000"/>
                  </a:schemeClr>
                </a:solidFill>
              </a:defRPr>
            </a:lvl1pPr>
          </a:lstStyle>
          <a:p>
            <a:fld id="{AC6C33BD-89E5-9242-A239-67B579CB87A0}" type="slidenum">
              <a:rPr lang="en-US" smtClean="0"/>
              <a:t>‹#›</a:t>
            </a:fld>
            <a:endParaRPr lang="en-US"/>
          </a:p>
        </p:txBody>
      </p:sp>
    </p:spTree>
    <p:extLst>
      <p:ext uri="{BB962C8B-B14F-4D97-AF65-F5344CB8AC3E}">
        <p14:creationId xmlns:p14="http://schemas.microsoft.com/office/powerpoint/2010/main" val="11534204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31520" rtl="0" eaLnBrk="1" latinLnBrk="0" hangingPunct="1">
        <a:lnSpc>
          <a:spcPct val="90000"/>
        </a:lnSpc>
        <a:spcBef>
          <a:spcPct val="0"/>
        </a:spcBef>
        <a:buNone/>
        <a:defRPr sz="3520" kern="1200">
          <a:solidFill>
            <a:schemeClr val="tx1"/>
          </a:solidFill>
          <a:latin typeface="+mj-lt"/>
          <a:ea typeface="+mj-ea"/>
          <a:cs typeface="+mj-cs"/>
        </a:defRPr>
      </a:lvl1pPr>
    </p:titleStyle>
    <p:bodyStyle>
      <a:lvl1pPr marL="182880" indent="-182880" algn="l" defTabSz="731520" rtl="0" eaLnBrk="1" latinLnBrk="0" hangingPunct="1">
        <a:lnSpc>
          <a:spcPct val="90000"/>
        </a:lnSpc>
        <a:spcBef>
          <a:spcPts val="800"/>
        </a:spcBef>
        <a:buFont typeface="Arial" panose="020B0604020202020204" pitchFamily="34" charset="0"/>
        <a:buChar char="•"/>
        <a:defRPr sz="2240" kern="1200">
          <a:solidFill>
            <a:schemeClr val="tx1"/>
          </a:solidFill>
          <a:latin typeface="+mn-lt"/>
          <a:ea typeface="+mn-ea"/>
          <a:cs typeface="+mn-cs"/>
        </a:defRPr>
      </a:lvl1pPr>
      <a:lvl2pPr marL="548640" indent="-182880" algn="l" defTabSz="731520" rtl="0" eaLnBrk="1" latinLnBrk="0" hangingPunct="1">
        <a:lnSpc>
          <a:spcPct val="90000"/>
        </a:lnSpc>
        <a:spcBef>
          <a:spcPts val="400"/>
        </a:spcBef>
        <a:buFont typeface="Arial" panose="020B0604020202020204" pitchFamily="34" charset="0"/>
        <a:buChar char="•"/>
        <a:defRPr sz="1920" kern="1200">
          <a:solidFill>
            <a:schemeClr val="tx1"/>
          </a:solidFill>
          <a:latin typeface="+mn-lt"/>
          <a:ea typeface="+mn-ea"/>
          <a:cs typeface="+mn-cs"/>
        </a:defRPr>
      </a:lvl2pPr>
      <a:lvl3pPr marL="914400" indent="-182880" algn="l" defTabSz="73152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12801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4pPr>
      <a:lvl5pPr marL="164592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5pPr>
      <a:lvl6pPr marL="201168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6pPr>
      <a:lvl7pPr marL="237744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7pPr>
      <a:lvl8pPr marL="274320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8pPr>
      <a:lvl9pPr marL="31089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9pPr>
    </p:bodyStyle>
    <p:otherStyle>
      <a:defPPr>
        <a:defRPr lang="en-US"/>
      </a:defPPr>
      <a:lvl1pPr marL="0" algn="l" defTabSz="731520" rtl="0" eaLnBrk="1" latinLnBrk="0" hangingPunct="1">
        <a:defRPr sz="1440" kern="1200">
          <a:solidFill>
            <a:schemeClr val="tx1"/>
          </a:solidFill>
          <a:latin typeface="+mn-lt"/>
          <a:ea typeface="+mn-ea"/>
          <a:cs typeface="+mn-cs"/>
        </a:defRPr>
      </a:lvl1pPr>
      <a:lvl2pPr marL="365760" algn="l" defTabSz="731520" rtl="0" eaLnBrk="1" latinLnBrk="0" hangingPunct="1">
        <a:defRPr sz="1440" kern="1200">
          <a:solidFill>
            <a:schemeClr val="tx1"/>
          </a:solidFill>
          <a:latin typeface="+mn-lt"/>
          <a:ea typeface="+mn-ea"/>
          <a:cs typeface="+mn-cs"/>
        </a:defRPr>
      </a:lvl2pPr>
      <a:lvl3pPr marL="731520" algn="l" defTabSz="731520" rtl="0" eaLnBrk="1" latinLnBrk="0" hangingPunct="1">
        <a:defRPr sz="1440" kern="1200">
          <a:solidFill>
            <a:schemeClr val="tx1"/>
          </a:solidFill>
          <a:latin typeface="+mn-lt"/>
          <a:ea typeface="+mn-ea"/>
          <a:cs typeface="+mn-cs"/>
        </a:defRPr>
      </a:lvl3pPr>
      <a:lvl4pPr marL="1097280" algn="l" defTabSz="731520" rtl="0" eaLnBrk="1" latinLnBrk="0" hangingPunct="1">
        <a:defRPr sz="1440" kern="1200">
          <a:solidFill>
            <a:schemeClr val="tx1"/>
          </a:solidFill>
          <a:latin typeface="+mn-lt"/>
          <a:ea typeface="+mn-ea"/>
          <a:cs typeface="+mn-cs"/>
        </a:defRPr>
      </a:lvl4pPr>
      <a:lvl5pPr marL="1463040" algn="l" defTabSz="731520" rtl="0" eaLnBrk="1" latinLnBrk="0" hangingPunct="1">
        <a:defRPr sz="1440" kern="1200">
          <a:solidFill>
            <a:schemeClr val="tx1"/>
          </a:solidFill>
          <a:latin typeface="+mn-lt"/>
          <a:ea typeface="+mn-ea"/>
          <a:cs typeface="+mn-cs"/>
        </a:defRPr>
      </a:lvl5pPr>
      <a:lvl6pPr marL="1828800" algn="l" defTabSz="731520" rtl="0" eaLnBrk="1" latinLnBrk="0" hangingPunct="1">
        <a:defRPr sz="1440" kern="1200">
          <a:solidFill>
            <a:schemeClr val="tx1"/>
          </a:solidFill>
          <a:latin typeface="+mn-lt"/>
          <a:ea typeface="+mn-ea"/>
          <a:cs typeface="+mn-cs"/>
        </a:defRPr>
      </a:lvl6pPr>
      <a:lvl7pPr marL="2194560" algn="l" defTabSz="731520" rtl="0" eaLnBrk="1" latinLnBrk="0" hangingPunct="1">
        <a:defRPr sz="1440" kern="1200">
          <a:solidFill>
            <a:schemeClr val="tx1"/>
          </a:solidFill>
          <a:latin typeface="+mn-lt"/>
          <a:ea typeface="+mn-ea"/>
          <a:cs typeface="+mn-cs"/>
        </a:defRPr>
      </a:lvl7pPr>
      <a:lvl8pPr marL="2560320" algn="l" defTabSz="731520" rtl="0" eaLnBrk="1" latinLnBrk="0" hangingPunct="1">
        <a:defRPr sz="1440" kern="1200">
          <a:solidFill>
            <a:schemeClr val="tx1"/>
          </a:solidFill>
          <a:latin typeface="+mn-lt"/>
          <a:ea typeface="+mn-ea"/>
          <a:cs typeface="+mn-cs"/>
        </a:defRPr>
      </a:lvl8pPr>
      <a:lvl9pPr marL="2926080" algn="l" defTabSz="731520" rtl="0" eaLnBrk="1" latinLnBrk="0" hangingPunct="1">
        <a:defRPr sz="14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nobleinvestment-my.sharepoint.com/personal/steven_nicholas_nobleinvestment_com/_layouts/15/Doc.aspx?sourcedoc=%7b73176128-4088-4c7b-adbb-f9e1f1184c04%7d&amp;action=edit&amp;wd=target%28San%20Diego.one%7Cbb53f3f8-6fcd-4c73-9060-f67c8e77f171%2FECommerce%20Notes%7C7e00d3d8-0c15-4b34-84ef-f0a5ab38f07f%2F%29&amp;wdorigin=NavigationUrl" TargetMode="External"/><Relationship Id="rId13" Type="http://schemas.openxmlformats.org/officeDocument/2006/relationships/image" Target="../media/image1.png"/><Relationship Id="rId3" Type="http://schemas.openxmlformats.org/officeDocument/2006/relationships/hyperlink" Target="https://app.powerbi.com/groups/me/apps/df79b0f7-1abd-4799-8e3c-8e1c50c2f658/reports/c996e83e-8e0c-42f2-9ed4-205f1c88631c/ReportSection1f3f3495641458952adb?ctid=d2033364-dec3-4a1c-9772-3f41ca7c4b75" TargetMode="External"/><Relationship Id="rId7" Type="http://schemas.openxmlformats.org/officeDocument/2006/relationships/hyperlink" Target="https://app.mylighthouse.com/login?spiderMigrationMessage=1" TargetMode="External"/><Relationship Id="rId12" Type="http://schemas.openxmlformats.org/officeDocument/2006/relationships/hyperlink" Target="https://nobleinvestment-my.sharepoint.com/:o:/r/personal/mhall_nobleinvestment_com/_layouts/15/Doc.aspx?sourcedoc=%7B57001EA5-C39B-4656-B072-A9BCBF565024%7D&amp;file=Michael%20%40%20Noble%20Investment%20Group&amp;action=edit&amp;mobileredirect=true&amp;wdorigin=Sharepoint&amp;login_hint=john.jimenez%40nobleinvestment.com" TargetMode="External"/><Relationship Id="rId2" Type="http://schemas.openxmlformats.org/officeDocument/2006/relationships/hyperlink" Target="https://sso.online.tableau.com/public/idp/SSO" TargetMode="External"/><Relationship Id="rId1" Type="http://schemas.openxmlformats.org/officeDocument/2006/relationships/slideLayout" Target="../slideLayouts/slideLayout1.xml"/><Relationship Id="rId6" Type="http://schemas.openxmlformats.org/officeDocument/2006/relationships/hyperlink" Target="https://app.powerbi.com/groups/me/reports/a36d151f-561e-4815-ab8d-1873ab7f6cf2/ReportSection61afc483398fb47b0e63?ctid=a1da8919-c496-410b-9118-7c8bac074172&amp;experience=power-bi" TargetMode="External"/><Relationship Id="rId11" Type="http://schemas.openxmlformats.org/officeDocument/2006/relationships/hyperlink" Target="https://nobleinvestment-my.sharepoint.com/personal/joward_nobleinvestment_com/_layouts/15/Doc.aspx?sourcedoc=%7b559198c6-a806-4870-a8bf-5c8b112268da%7d&amp;action=edit&amp;wd=target%28Hotels.one%7C8044c868-4cba-41ea-9c10-63be4781a46e%2FRI%20Denver%7C912ce180-0c43-4dde-baac-2545dd4b475f%2F%29&amp;wdorigin=NavigationUrl" TargetMode="External"/><Relationship Id="rId5" Type="http://schemas.openxmlformats.org/officeDocument/2006/relationships/hyperlink" Target="https://www.amadeus-hospitality.com/support/" TargetMode="External"/><Relationship Id="rId10" Type="http://schemas.openxmlformats.org/officeDocument/2006/relationships/hyperlink" Target="https://nobleinvestment-my.sharepoint.com/personal/dkauble_nobleinvestment_com/_layouts/15/Doc.aspx?sourcedoc=%7bc19cd033-932c-4319-be07-fa80c1c801e4%7d&amp;action=edit&amp;wd=target%28Aimbridge.one%7C4fefd595-20bb-4442-b1f5-147c58bbe59f%2FPriority%20List%7C2917d5e1-ebe2-4815-b488-1cf57037983e%2F%29&amp;wdorigin=NavigationUrl" TargetMode="External"/><Relationship Id="rId4" Type="http://schemas.openxmlformats.org/officeDocument/2006/relationships/hyperlink" Target="https://tableau.hilton.com/#/site/OwnerReporting/projects/470" TargetMode="External"/><Relationship Id="rId9" Type="http://schemas.openxmlformats.org/officeDocument/2006/relationships/hyperlink" Target="https://nobleinvestment-my.sharepoint.com/personal/lisa_smith_nobleinvestment_com/_layouts/15/Doc.aspx?sourcedoc=%7bda399af1-4ed6-43ec-a0c1-1bda7aba68a6%7d&amp;action=edit&amp;wd=target%28HI%20Charlottesville.one%7C366762eb-9075-4159-b9b9-f46adb201d70%2FUntitled%20Page%7Cb65027a3-6852-42a2-98d3-36355bbe27a7%2F%29&amp;wdorigin=NavigationUr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A4A82CE-6D4B-5E07-BD7D-CCADEC11E9D0}"/>
              </a:ext>
            </a:extLst>
          </p:cNvPr>
          <p:cNvSpPr/>
          <p:nvPr/>
        </p:nvSpPr>
        <p:spPr>
          <a:xfrm>
            <a:off x="25356" y="1"/>
            <a:ext cx="7264490" cy="9877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73"/>
          </a:p>
        </p:txBody>
      </p:sp>
      <p:sp>
        <p:nvSpPr>
          <p:cNvPr id="4" name="object 2">
            <a:extLst>
              <a:ext uri="{FF2B5EF4-FFF2-40B4-BE49-F238E27FC236}">
                <a16:creationId xmlns:a16="http://schemas.microsoft.com/office/drawing/2014/main" id="{32BAF043-9283-B071-47F9-C0698B4ACAED}"/>
              </a:ext>
            </a:extLst>
          </p:cNvPr>
          <p:cNvSpPr txBox="1">
            <a:spLocks/>
          </p:cNvSpPr>
          <p:nvPr/>
        </p:nvSpPr>
        <p:spPr>
          <a:xfrm>
            <a:off x="723645" y="299479"/>
            <a:ext cx="5657853" cy="523881"/>
          </a:xfrm>
          <a:prstGeom prst="rect">
            <a:avLst/>
          </a:prstGeom>
        </p:spPr>
        <p:txBody>
          <a:bodyPr vert="horz" wrap="square" lIns="0" tIns="12935" rIns="0" bIns="0" rtlCol="0" anchor="b">
            <a:spAutoFit/>
          </a:bodyPr>
          <a:lstStyle>
            <a:lvl1pPr algn="ctr" defTabSz="713232" rtl="0" eaLnBrk="1" latinLnBrk="0" hangingPunct="1">
              <a:lnSpc>
                <a:spcPct val="90000"/>
              </a:lnSpc>
              <a:spcBef>
                <a:spcPct val="0"/>
              </a:spcBef>
              <a:buNone/>
              <a:defRPr sz="4680" kern="1200">
                <a:solidFill>
                  <a:schemeClr val="tx1"/>
                </a:solidFill>
                <a:latin typeface="+mj-lt"/>
                <a:ea typeface="+mj-ea"/>
                <a:cs typeface="+mj-cs"/>
              </a:defRPr>
            </a:lvl1pPr>
          </a:lstStyle>
          <a:p>
            <a:pPr marL="12935">
              <a:lnSpc>
                <a:spcPct val="100000"/>
              </a:lnSpc>
              <a:spcBef>
                <a:spcPts val="102"/>
              </a:spcBef>
            </a:pPr>
            <a:r>
              <a:rPr lang="en-US" sz="3259" dirty="0">
                <a:solidFill>
                  <a:schemeClr val="bg1"/>
                </a:solidFill>
              </a:rPr>
              <a:t>Noble BI Tools</a:t>
            </a:r>
            <a:endParaRPr lang="en-US" sz="3259" spc="-5" dirty="0">
              <a:solidFill>
                <a:schemeClr val="bg1"/>
              </a:solidFill>
            </a:endParaRPr>
          </a:p>
        </p:txBody>
      </p:sp>
      <p:graphicFrame>
        <p:nvGraphicFramePr>
          <p:cNvPr id="5" name="Table 7">
            <a:extLst>
              <a:ext uri="{FF2B5EF4-FFF2-40B4-BE49-F238E27FC236}">
                <a16:creationId xmlns:a16="http://schemas.microsoft.com/office/drawing/2014/main" id="{9922E78D-6A3C-4A3F-22D8-80ECC90D7AEE}"/>
              </a:ext>
            </a:extLst>
          </p:cNvPr>
          <p:cNvGraphicFramePr>
            <a:graphicFrameLocks noGrp="1"/>
          </p:cNvGraphicFramePr>
          <p:nvPr>
            <p:extLst>
              <p:ext uri="{D42A27DB-BD31-4B8C-83A1-F6EECF244321}">
                <p14:modId xmlns:p14="http://schemas.microsoft.com/office/powerpoint/2010/main" val="1191188377"/>
              </p:ext>
            </p:extLst>
          </p:nvPr>
        </p:nvGraphicFramePr>
        <p:xfrm>
          <a:off x="125449" y="1006812"/>
          <a:ext cx="7050054" cy="8946788"/>
        </p:xfrm>
        <a:graphic>
          <a:graphicData uri="http://schemas.openxmlformats.org/drawingml/2006/table">
            <a:tbl>
              <a:tblPr firstRow="1" bandRow="1">
                <a:tableStyleId>{073A0DAA-6AF3-43AB-8588-CEC1D06C72B9}</a:tableStyleId>
              </a:tblPr>
              <a:tblGrid>
                <a:gridCol w="304631">
                  <a:extLst>
                    <a:ext uri="{9D8B030D-6E8A-4147-A177-3AD203B41FA5}">
                      <a16:colId xmlns:a16="http://schemas.microsoft.com/office/drawing/2014/main" val="3869829270"/>
                    </a:ext>
                  </a:extLst>
                </a:gridCol>
                <a:gridCol w="683246">
                  <a:extLst>
                    <a:ext uri="{9D8B030D-6E8A-4147-A177-3AD203B41FA5}">
                      <a16:colId xmlns:a16="http://schemas.microsoft.com/office/drawing/2014/main" val="297057209"/>
                    </a:ext>
                  </a:extLst>
                </a:gridCol>
                <a:gridCol w="3973271">
                  <a:extLst>
                    <a:ext uri="{9D8B030D-6E8A-4147-A177-3AD203B41FA5}">
                      <a16:colId xmlns:a16="http://schemas.microsoft.com/office/drawing/2014/main" val="629157656"/>
                    </a:ext>
                  </a:extLst>
                </a:gridCol>
                <a:gridCol w="887785">
                  <a:extLst>
                    <a:ext uri="{9D8B030D-6E8A-4147-A177-3AD203B41FA5}">
                      <a16:colId xmlns:a16="http://schemas.microsoft.com/office/drawing/2014/main" val="422433656"/>
                    </a:ext>
                  </a:extLst>
                </a:gridCol>
                <a:gridCol w="1201121">
                  <a:extLst>
                    <a:ext uri="{9D8B030D-6E8A-4147-A177-3AD203B41FA5}">
                      <a16:colId xmlns:a16="http://schemas.microsoft.com/office/drawing/2014/main" val="1839719704"/>
                    </a:ext>
                  </a:extLst>
                </a:gridCol>
              </a:tblGrid>
              <a:tr h="185326">
                <a:tc>
                  <a:txBody>
                    <a:bodyPr/>
                    <a:lstStyle/>
                    <a:p>
                      <a:pPr algn="ctr"/>
                      <a:r>
                        <a:rPr lang="en-US" sz="800" dirty="0"/>
                        <a:t>#</a:t>
                      </a:r>
                    </a:p>
                  </a:txBody>
                  <a:tcPr marL="93130" marR="93130" marT="46565" marB="46565"/>
                </a:tc>
                <a:tc>
                  <a:txBody>
                    <a:bodyPr/>
                    <a:lstStyle/>
                    <a:p>
                      <a:pPr algn="ctr"/>
                      <a:r>
                        <a:rPr lang="en-US" sz="800" dirty="0"/>
                        <a:t>Report/</a:t>
                      </a:r>
                    </a:p>
                  </a:txBody>
                  <a:tcPr marL="93130" marR="93130" marT="46565" marB="46565"/>
                </a:tc>
                <a:tc>
                  <a:txBody>
                    <a:bodyPr/>
                    <a:lstStyle/>
                    <a:p>
                      <a:pPr algn="ctr"/>
                      <a:r>
                        <a:rPr lang="en-US" sz="800" dirty="0"/>
                        <a:t>Description</a:t>
                      </a:r>
                    </a:p>
                  </a:txBody>
                  <a:tcPr marL="93130" marR="93130" marT="46565" marB="46565"/>
                </a:tc>
                <a:tc>
                  <a:txBody>
                    <a:bodyPr/>
                    <a:lstStyle/>
                    <a:p>
                      <a:pPr algn="ctr"/>
                      <a:r>
                        <a:rPr lang="en-US" sz="800" dirty="0"/>
                        <a:t>Date/Frequency</a:t>
                      </a:r>
                    </a:p>
                  </a:txBody>
                  <a:tcPr marL="93130" marR="93130" marT="46565" marB="46565"/>
                </a:tc>
                <a:tc>
                  <a:txBody>
                    <a:bodyPr/>
                    <a:lstStyle/>
                    <a:p>
                      <a:pPr algn="ctr"/>
                      <a:r>
                        <a:rPr lang="en-US" sz="800" dirty="0"/>
                        <a:t>Deliverable/Location</a:t>
                      </a:r>
                    </a:p>
                  </a:txBody>
                  <a:tcPr marL="93130" marR="93130" marT="46565" marB="46565"/>
                </a:tc>
                <a:extLst>
                  <a:ext uri="{0D108BD9-81ED-4DB2-BD59-A6C34878D82A}">
                    <a16:rowId xmlns:a16="http://schemas.microsoft.com/office/drawing/2014/main" val="2097109901"/>
                  </a:ext>
                </a:extLst>
              </a:tr>
              <a:tr h="636391">
                <a:tc>
                  <a:txBody>
                    <a:bodyPr/>
                    <a:lstStyle/>
                    <a:p>
                      <a:r>
                        <a:rPr lang="en-US" sz="700" dirty="0"/>
                        <a:t>1</a:t>
                      </a:r>
                    </a:p>
                  </a:txBody>
                  <a:tcPr marL="93130" marR="93130" marT="46565" marB="46565" anchor="ctr"/>
                </a:tc>
                <a:tc>
                  <a:txBody>
                    <a:bodyPr/>
                    <a:lstStyle/>
                    <a:p>
                      <a:r>
                        <a:rPr lang="en-US" sz="700" dirty="0"/>
                        <a:t>Weekly Forecast Sheet (Yellow sheet)</a:t>
                      </a:r>
                    </a:p>
                  </a:txBody>
                  <a:tcPr marL="93130" marR="93130" marT="46565" marB="46565"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700" dirty="0"/>
                        <a:t>This report presents a weekly comparison of production metrics for hotels against multiple benchmarks: the Noble Budget, the forecast for the current month, the operational summary, the manager's budget, and the previous year's data</a:t>
                      </a:r>
                    </a:p>
                  </a:txBody>
                  <a:tcPr marL="93130" marR="93130" marT="46565" marB="46565" anchor="ctr"/>
                </a:tc>
                <a:tc>
                  <a:txBody>
                    <a:bodyPr/>
                    <a:lstStyle/>
                    <a:p>
                      <a:pPr algn="ctr"/>
                      <a:r>
                        <a:rPr lang="en-US" sz="700" dirty="0"/>
                        <a:t>Weekly</a:t>
                      </a:r>
                    </a:p>
                  </a:txBody>
                  <a:tcPr marL="93130" marR="93130" marT="46565" marB="46565" anchor="ctr"/>
                </a:tc>
                <a:tc>
                  <a:txBody>
                    <a:bodyPr/>
                    <a:lstStyle/>
                    <a:p>
                      <a:r>
                        <a:rPr lang="en-US" sz="700" dirty="0"/>
                        <a:t>Noble Dropbox/Monthly Forecasts</a:t>
                      </a:r>
                    </a:p>
                  </a:txBody>
                  <a:tcPr marL="93130" marR="93130" marT="46565" marB="46565" anchor="ctr"/>
                </a:tc>
                <a:extLst>
                  <a:ext uri="{0D108BD9-81ED-4DB2-BD59-A6C34878D82A}">
                    <a16:rowId xmlns:a16="http://schemas.microsoft.com/office/drawing/2014/main" val="1600225038"/>
                  </a:ext>
                </a:extLst>
              </a:tr>
              <a:tr h="499414">
                <a:tc>
                  <a:txBody>
                    <a:bodyPr/>
                    <a:lstStyle/>
                    <a:p>
                      <a:r>
                        <a:rPr lang="en-US" sz="700" dirty="0"/>
                        <a:t>2</a:t>
                      </a:r>
                    </a:p>
                  </a:txBody>
                  <a:tcPr marL="93130" marR="93130" marT="46565" marB="46565" anchor="ctr"/>
                </a:tc>
                <a:tc>
                  <a:txBody>
                    <a:bodyPr/>
                    <a:lstStyle/>
                    <a:p>
                      <a:r>
                        <a:rPr lang="en-US" sz="700" dirty="0"/>
                        <a:t>Monthly forecast (Blue sheet)</a:t>
                      </a:r>
                    </a:p>
                  </a:txBody>
                  <a:tcPr marL="93130" marR="93130" marT="46565" marB="46565"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700" dirty="0"/>
                        <a:t>This report provides a monthly analysis of hotel production metrics, juxtaposing actual figures with various benchmarks: the Noble Budget, the manager's budget, the previous operational summary, the current operational summary, and the forecast for the respective months.</a:t>
                      </a:r>
                    </a:p>
                  </a:txBody>
                  <a:tcPr marL="93130" marR="93130" marT="46565" marB="46565" anchor="ctr"/>
                </a:tc>
                <a:tc>
                  <a:txBody>
                    <a:bodyPr/>
                    <a:lstStyle/>
                    <a:p>
                      <a:pPr algn="ctr"/>
                      <a:r>
                        <a:rPr lang="en-US" sz="700" dirty="0"/>
                        <a:t>Monthly</a:t>
                      </a:r>
                    </a:p>
                  </a:txBody>
                  <a:tcPr marL="93130" marR="93130" marT="46565" marB="46565"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700" dirty="0"/>
                        <a:t>Noble Dropbox/Monthly Forecasts</a:t>
                      </a:r>
                    </a:p>
                  </a:txBody>
                  <a:tcPr marL="93130" marR="93130" marT="46565" marB="46565" anchor="ctr"/>
                </a:tc>
                <a:extLst>
                  <a:ext uri="{0D108BD9-81ED-4DB2-BD59-A6C34878D82A}">
                    <a16:rowId xmlns:a16="http://schemas.microsoft.com/office/drawing/2014/main" val="663004824"/>
                  </a:ext>
                </a:extLst>
              </a:tr>
              <a:tr h="634133">
                <a:tc>
                  <a:txBody>
                    <a:bodyPr/>
                    <a:lstStyle/>
                    <a:p>
                      <a:r>
                        <a:rPr lang="en-US" sz="700" dirty="0"/>
                        <a:t>3</a:t>
                      </a:r>
                    </a:p>
                  </a:txBody>
                  <a:tcPr marL="93130" marR="93130" marT="46565" marB="46565" anchor="ctr"/>
                </a:tc>
                <a:tc>
                  <a:txBody>
                    <a:bodyPr/>
                    <a:lstStyle/>
                    <a:p>
                      <a:r>
                        <a:rPr lang="en-US" sz="700" dirty="0"/>
                        <a:t>Email Report (In the Monthly Forecast)</a:t>
                      </a:r>
                    </a:p>
                  </a:txBody>
                  <a:tcPr marL="93130" marR="93130" marT="46565" marB="46565" anchor="ctr"/>
                </a:tc>
                <a:tc>
                  <a:txBody>
                    <a:bodyPr/>
                    <a:lstStyle/>
                    <a:p>
                      <a:r>
                        <a:rPr lang="en-US" sz="700" dirty="0"/>
                        <a:t>The report provides a detailed summary for each hotel, covering the most recent month and year-to-date (YTD) performance, comparing actual results against the manager's budget, the Noble budget, and the previous year's figures. It highlights management issues in revenue and expenses and includes the most current Guest Satisfaction Survey (GSS) results.</a:t>
                      </a:r>
                    </a:p>
                  </a:txBody>
                  <a:tcPr marL="93130" marR="93130" marT="46565" marB="46565" anchor="ctr"/>
                </a:tc>
                <a:tc>
                  <a:txBody>
                    <a:bodyPr/>
                    <a:lstStyle/>
                    <a:p>
                      <a:pPr algn="ctr"/>
                      <a:r>
                        <a:rPr lang="en-US" sz="700" dirty="0"/>
                        <a:t>Monthly</a:t>
                      </a:r>
                    </a:p>
                  </a:txBody>
                  <a:tcPr marL="93130" marR="93130" marT="46565" marB="46565"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700" dirty="0"/>
                        <a:t>Tab in Noble Dropbox/Monthly Forecasts</a:t>
                      </a:r>
                    </a:p>
                  </a:txBody>
                  <a:tcPr marL="93130" marR="93130" marT="46565" marB="46565" anchor="ctr"/>
                </a:tc>
                <a:extLst>
                  <a:ext uri="{0D108BD9-81ED-4DB2-BD59-A6C34878D82A}">
                    <a16:rowId xmlns:a16="http://schemas.microsoft.com/office/drawing/2014/main" val="1561423362"/>
                  </a:ext>
                </a:extLst>
              </a:tr>
              <a:tr h="720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4</a:t>
                      </a:r>
                    </a:p>
                  </a:txBody>
                  <a:tcPr marL="93130" marR="93130" marT="46565" marB="4656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Ops report</a:t>
                      </a:r>
                    </a:p>
                  </a:txBody>
                  <a:tcPr marL="93130" marR="93130" marT="46565" marB="46565" anchor="ctr"/>
                </a:tc>
                <a:tc>
                  <a:txBody>
                    <a:bodyPr/>
                    <a:lstStyle/>
                    <a:p>
                      <a:r>
                        <a:rPr lang="en-US" sz="700" dirty="0"/>
                        <a:t>This report delivers an in-depth analysis of key performance indicators (KPIs) for each hotel, comparing the actuals from the past three years against current year budget and the forecasts for selected months. It quantifies the KPIs relative to the 2019 metrics, represented as a percentage. To further highlight performance discrepancies between the most recent operational summary and the last summary that was published and the variances budget</a:t>
                      </a:r>
                    </a:p>
                  </a:txBody>
                  <a:tcPr marL="93130" marR="93130" marT="46565" marB="4656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dirty="0"/>
                        <a:t>Monthly</a:t>
                      </a:r>
                    </a:p>
                  </a:txBody>
                  <a:tcPr marL="93130" marR="93130" marT="46565" marB="46565"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700" dirty="0"/>
                        <a:t>Noble Dropbox/Monthly Forecasts</a:t>
                      </a:r>
                    </a:p>
                  </a:txBody>
                  <a:tcPr marL="93130" marR="93130" marT="46565" marB="46565" anchor="ctr"/>
                </a:tc>
                <a:extLst>
                  <a:ext uri="{0D108BD9-81ED-4DB2-BD59-A6C34878D82A}">
                    <a16:rowId xmlns:a16="http://schemas.microsoft.com/office/drawing/2014/main" val="2199272992"/>
                  </a:ext>
                </a:extLst>
              </a:tr>
              <a:tr h="746673">
                <a:tc>
                  <a:txBody>
                    <a:bodyPr/>
                    <a:lstStyle/>
                    <a:p>
                      <a:r>
                        <a:rPr lang="en-US" sz="700" dirty="0"/>
                        <a:t>5</a:t>
                      </a:r>
                    </a:p>
                  </a:txBody>
                  <a:tcPr marL="93130" marR="93130" marT="46565" marB="46565" anchor="ctr"/>
                </a:tc>
                <a:tc>
                  <a: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sz="700" dirty="0"/>
                        <a:t>Ops memo</a:t>
                      </a:r>
                    </a:p>
                  </a:txBody>
                  <a:tcPr marL="93130" marR="93130" marT="46565" marB="46565" anchor="ctr"/>
                </a:tc>
                <a:tc>
                  <a:txBody>
                    <a:bodyPr/>
                    <a:lstStyle/>
                    <a:p>
                      <a:r>
                        <a:rPr lang="en-US" sz="700" dirty="0"/>
                        <a:t>This report presents an over of the of the U.S. market's current performance, updates on ongoing renovations across our hotel portfolio, and examination of portfolio-wide trends concerning Revenue per Available Room (RevPAR), Average Daily Rate (ADR), and Occupancy rates. Additionally, it examines market-specific factors influencing individual hotel forecasts and concludes with the latest forecasts from CBRE and LARC.</a:t>
                      </a:r>
                    </a:p>
                  </a:txBody>
                  <a:tcPr marL="93130" marR="93130" marT="46565" marB="4656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dirty="0"/>
                        <a:t>Monthly</a:t>
                      </a:r>
                    </a:p>
                  </a:txBody>
                  <a:tcPr marL="93130" marR="93130" marT="46565" marB="4656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Noble Dropbox/Monthly Forecasts</a:t>
                      </a:r>
                    </a:p>
                  </a:txBody>
                  <a:tcPr marL="93130" marR="93130" marT="46565" marB="46565" anchor="ctr"/>
                </a:tc>
                <a:extLst>
                  <a:ext uri="{0D108BD9-81ED-4DB2-BD59-A6C34878D82A}">
                    <a16:rowId xmlns:a16="http://schemas.microsoft.com/office/drawing/2014/main" val="1539293303"/>
                  </a:ext>
                </a:extLst>
              </a:tr>
              <a:tr h="636391">
                <a:tc>
                  <a:txBody>
                    <a:bodyPr/>
                    <a:lstStyle/>
                    <a:p>
                      <a:r>
                        <a:rPr lang="en-US" sz="700" dirty="0"/>
                        <a:t>6</a:t>
                      </a:r>
                    </a:p>
                  </a:txBody>
                  <a:tcPr marL="93130" marR="93130" marT="46565" marB="46565" anchor="ctr"/>
                </a:tc>
                <a:tc>
                  <a:txBody>
                    <a:bodyPr/>
                    <a:lstStyle/>
                    <a:p>
                      <a:r>
                        <a:rPr lang="en-US" sz="700" dirty="0"/>
                        <a:t>Monthly Stats report</a:t>
                      </a:r>
                    </a:p>
                  </a:txBody>
                  <a:tcPr marL="93130" marR="93130" marT="46565" marB="46565" anchor="ctr"/>
                </a:tc>
                <a:tc>
                  <a:txBody>
                    <a:bodyPr/>
                    <a:lstStyle/>
                    <a:p>
                      <a:r>
                        <a:rPr lang="en-US" sz="700" dirty="0"/>
                        <a:t>The "Monthly Hotel Statistics Report" provides a comprehensive performance review of the Noble Total Portfolio, revealing key financial metrics and market trends. It compares current ADR, RevPAR, and occupancy rates against past years and budget forecasts, noting a steady recovery yet challenges in achieving budget targets. The report concludes with a summary of revised growth forecasts from CBRE and LARC for the U.S. market</a:t>
                      </a:r>
                    </a:p>
                  </a:txBody>
                  <a:tcPr marL="93130" marR="93130" marT="46565" marB="4656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dirty="0"/>
                        <a:t>Monthly </a:t>
                      </a:r>
                    </a:p>
                  </a:txBody>
                  <a:tcPr marL="93130" marR="93130" marT="46565" marB="46565"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700" dirty="0"/>
                        <a:t>Noble Dropbox/Asset Management Team Folder/Monthly Report Package</a:t>
                      </a:r>
                    </a:p>
                  </a:txBody>
                  <a:tcPr marL="93130" marR="93130" marT="46565" marB="46565" anchor="ctr"/>
                </a:tc>
                <a:extLst>
                  <a:ext uri="{0D108BD9-81ED-4DB2-BD59-A6C34878D82A}">
                    <a16:rowId xmlns:a16="http://schemas.microsoft.com/office/drawing/2014/main" val="3769414935"/>
                  </a:ext>
                </a:extLst>
              </a:tr>
              <a:tr h="1110899">
                <a:tc>
                  <a:txBody>
                    <a:bodyPr/>
                    <a:lstStyle/>
                    <a:p>
                      <a:r>
                        <a:rPr lang="en-US" sz="700" dirty="0"/>
                        <a:t>7</a:t>
                      </a:r>
                    </a:p>
                  </a:txBody>
                  <a:tcPr marL="93130" marR="93130" marT="46565" marB="46565" anchor="ctr"/>
                </a:tc>
                <a:tc>
                  <a:txBody>
                    <a:bodyPr/>
                    <a:lstStyle/>
                    <a:p>
                      <a:r>
                        <a:rPr lang="en-US" sz="700" dirty="0"/>
                        <a:t>Tableau</a:t>
                      </a:r>
                    </a:p>
                  </a:txBody>
                  <a:tcPr marL="93130" marR="93130" marT="46565" marB="46565"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dirty="0"/>
                        <a:t>STR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dirty="0"/>
                        <a:t>Channel Contribution Report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dirty="0"/>
                        <a:t>Gov Per Diem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dirty="0"/>
                        <a:t>Hyatt Report: </a:t>
                      </a:r>
                      <a:r>
                        <a:rPr lang="en-US" sz="700" dirty="0" err="1"/>
                        <a:t>Koddi</a:t>
                      </a:r>
                      <a:endParaRPr lang="en-US" sz="7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dirty="0"/>
                        <a:t>Hilton Reports: Hilton </a:t>
                      </a:r>
                      <a:r>
                        <a:rPr lang="en-US" sz="700" dirty="0" err="1"/>
                        <a:t>Koddi</a:t>
                      </a:r>
                      <a:r>
                        <a:rPr lang="en-US" sz="700" dirty="0"/>
                        <a:t>, Hilton Loyalty Report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dirty="0"/>
                        <a:t>Labor Survey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dirty="0"/>
                        <a:t>Market Forecasts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dirty="0"/>
                        <a:t>Marriott Report: Loyalty Report, </a:t>
                      </a:r>
                      <a:r>
                        <a:rPr lang="en-US" sz="700" dirty="0" err="1"/>
                        <a:t>Koddi</a:t>
                      </a:r>
                      <a:r>
                        <a:rPr lang="en-US" sz="700" dirty="0"/>
                        <a:t> Marriott </a:t>
                      </a:r>
                      <a:r>
                        <a:rPr lang="en-US" sz="700" dirty="0" err="1"/>
                        <a:t>Repor</a:t>
                      </a:r>
                      <a:r>
                        <a:rPr lang="en-US" sz="700" dirty="0"/>
                        <a:t>, Traffic Source Report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dirty="0" err="1"/>
                        <a:t>Travelads</a:t>
                      </a:r>
                      <a:r>
                        <a:rPr lang="en-US" sz="700" dirty="0"/>
                        <a:t> Report</a:t>
                      </a:r>
                    </a:p>
                  </a:txBody>
                  <a:tcPr marL="93130" marR="93130" marT="46565" marB="4656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dirty="0"/>
                        <a:t>Monthly</a:t>
                      </a:r>
                    </a:p>
                  </a:txBody>
                  <a:tcPr marL="93130" marR="93130" marT="46565" marB="46565" anchor="ctr"/>
                </a:tc>
                <a:tc>
                  <a:txBody>
                    <a:bodyPr/>
                    <a:lstStyle/>
                    <a:p>
                      <a:pPr algn="ctr"/>
                      <a:r>
                        <a:rPr lang="en-US" sz="700" dirty="0">
                          <a:hlinkClick r:id="rId2"/>
                        </a:rPr>
                        <a:t>Link</a:t>
                      </a:r>
                      <a:endParaRPr lang="en-US" sz="700" dirty="0"/>
                    </a:p>
                  </a:txBody>
                  <a:tcPr marL="93130" marR="93130" marT="46565" marB="46565" anchor="ctr"/>
                </a:tc>
                <a:extLst>
                  <a:ext uri="{0D108BD9-81ED-4DB2-BD59-A6C34878D82A}">
                    <a16:rowId xmlns:a16="http://schemas.microsoft.com/office/drawing/2014/main" val="4034450622"/>
                  </a:ext>
                </a:extLst>
              </a:tr>
              <a:tr h="7466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8</a:t>
                      </a:r>
                    </a:p>
                  </a:txBody>
                  <a:tcPr marL="93130" marR="93130" marT="46565" marB="4656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Marriott M-Dash: Topline Activators Report </a:t>
                      </a:r>
                    </a:p>
                  </a:txBody>
                  <a:tcPr marL="93130" marR="93130" marT="46565" marB="46565" anchor="ctr"/>
                </a:tc>
                <a:tc>
                  <a:txBody>
                    <a:bodyPr/>
                    <a:lstStyle/>
                    <a:p>
                      <a:r>
                        <a:rPr lang="en-US" sz="700" dirty="0"/>
                        <a:t>A business intelligence tool that uses data visualization and dynamic reporting capabilities to consolidate Foundational/Critical Business Metrics into one place​. It has the ability to drill down, dynamically filter, and compare portfolio level data in multiple avenues of reporting including web and mobile. The currently platform utilizes, Microsoft </a:t>
                      </a:r>
                      <a:r>
                        <a:rPr lang="en-US" sz="700" dirty="0" err="1"/>
                        <a:t>PowerBI</a:t>
                      </a:r>
                      <a:r>
                        <a:rPr lang="en-US" sz="700" dirty="0"/>
                        <a:t> that requires authentication through Microsoft via your Marriott EID. If you are currently signed in to Microsoft via your Noble account you will either need to sigh out, or use a different web browser to access the platform</a:t>
                      </a:r>
                    </a:p>
                  </a:txBody>
                  <a:tcPr marL="93130" marR="93130" marT="46565" marB="4656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dirty="0"/>
                        <a:t>Daily</a:t>
                      </a:r>
                    </a:p>
                  </a:txBody>
                  <a:tcPr marL="93130" marR="93130" marT="46565" marB="46565" anchor="ctr"/>
                </a:tc>
                <a:tc>
                  <a:txBody>
                    <a:bodyPr/>
                    <a:lstStyle/>
                    <a:p>
                      <a:pPr algn="ctr"/>
                      <a:r>
                        <a:rPr lang="en-US" sz="700" dirty="0">
                          <a:hlinkClick r:id="rId3"/>
                        </a:rPr>
                        <a:t>Link</a:t>
                      </a:r>
                      <a:endParaRPr lang="en-US" sz="700" dirty="0"/>
                    </a:p>
                  </a:txBody>
                  <a:tcPr marL="93130" marR="93130" marT="46565" marB="46565" anchor="ctr"/>
                </a:tc>
                <a:extLst>
                  <a:ext uri="{0D108BD9-81ED-4DB2-BD59-A6C34878D82A}">
                    <a16:rowId xmlns:a16="http://schemas.microsoft.com/office/drawing/2014/main" val="3663734233"/>
                  </a:ext>
                </a:extLst>
              </a:tr>
              <a:tr h="527739">
                <a:tc>
                  <a:txBody>
                    <a:bodyPr/>
                    <a:lstStyle/>
                    <a:p>
                      <a:r>
                        <a:rPr lang="en-US" sz="700" dirty="0"/>
                        <a:t>9</a:t>
                      </a:r>
                    </a:p>
                  </a:txBody>
                  <a:tcPr marL="93130" marR="93130" marT="46565" marB="46565" anchor="ctr"/>
                </a:tc>
                <a:tc>
                  <a:txBody>
                    <a:bodyPr/>
                    <a:lstStyle/>
                    <a:p>
                      <a:r>
                        <a:rPr lang="en-US" sz="700" dirty="0"/>
                        <a:t>Hilton Owners Engagement Report </a:t>
                      </a:r>
                    </a:p>
                  </a:txBody>
                  <a:tcPr marL="93130" marR="93130" marT="46565" marB="4656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The Enterprise Engagement Snapshot visualizes key metrics (Commercial, Operational, and Initiative) for your portfolio of hotels in YTD, 6-month or 3-month increments.</a:t>
                      </a:r>
                    </a:p>
                  </a:txBody>
                  <a:tcPr marL="93130" marR="93130" marT="46565" marB="4656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dirty="0"/>
                        <a:t>Monthly </a:t>
                      </a:r>
                    </a:p>
                  </a:txBody>
                  <a:tcPr marL="93130" marR="93130" marT="46565" marB="46565" anchor="ctr"/>
                </a:tc>
                <a:tc>
                  <a:txBody>
                    <a:bodyPr/>
                    <a:lstStyle/>
                    <a:p>
                      <a:pPr algn="ctr"/>
                      <a:r>
                        <a:rPr lang="en-US" sz="700" dirty="0">
                          <a:hlinkClick r:id="rId4"/>
                        </a:rPr>
                        <a:t>Link</a:t>
                      </a:r>
                      <a:endParaRPr lang="en-US" sz="700" dirty="0"/>
                    </a:p>
                  </a:txBody>
                  <a:tcPr marL="93130" marR="93130" marT="46565" marB="46565" anchor="ctr"/>
                </a:tc>
                <a:extLst>
                  <a:ext uri="{0D108BD9-81ED-4DB2-BD59-A6C34878D82A}">
                    <a16:rowId xmlns:a16="http://schemas.microsoft.com/office/drawing/2014/main" val="105657336"/>
                  </a:ext>
                </a:extLst>
              </a:tr>
              <a:tr h="310434">
                <a:tc>
                  <a:txBody>
                    <a:bodyPr/>
                    <a:lstStyle/>
                    <a:p>
                      <a:r>
                        <a:rPr lang="en-US" sz="700" dirty="0"/>
                        <a:t>10</a:t>
                      </a:r>
                    </a:p>
                  </a:txBody>
                  <a:tcPr marL="93130" marR="93130" marT="46565" marB="46565" anchor="ctr"/>
                </a:tc>
                <a:tc>
                  <a:txBody>
                    <a:bodyPr/>
                    <a:lstStyle/>
                    <a:p>
                      <a:r>
                        <a:rPr lang="en-US" sz="700" dirty="0"/>
                        <a:t>Demand360 </a:t>
                      </a:r>
                    </a:p>
                  </a:txBody>
                  <a:tcPr marL="93130" marR="93130" marT="46565" marB="46565" anchor="ctr"/>
                </a:tc>
                <a:tc>
                  <a:txBody>
                    <a:bodyPr/>
                    <a:lstStyle/>
                    <a:p>
                      <a:r>
                        <a:rPr lang="en-US" sz="700" dirty="0"/>
                        <a:t>The platform provides demand data by channel and segmentation for both historical and future time frames.</a:t>
                      </a:r>
                    </a:p>
                  </a:txBody>
                  <a:tcPr marL="93130" marR="93130" marT="46565" marB="46565" anchor="ctr"/>
                </a:tc>
                <a:tc>
                  <a:txBody>
                    <a:bodyPr/>
                    <a:lstStyle/>
                    <a:p>
                      <a:pPr algn="ctr"/>
                      <a:r>
                        <a:rPr lang="en-US" sz="700" dirty="0"/>
                        <a:t>Daily</a:t>
                      </a:r>
                    </a:p>
                  </a:txBody>
                  <a:tcPr marL="93130" marR="93130" marT="46565" marB="46565" anchor="ctr"/>
                </a:tc>
                <a:tc>
                  <a:txBody>
                    <a:bodyPr/>
                    <a:lstStyle/>
                    <a:p>
                      <a:pPr algn="ctr"/>
                      <a:r>
                        <a:rPr lang="en-US" sz="700" dirty="0">
                          <a:hlinkClick r:id="rId5"/>
                        </a:rPr>
                        <a:t>Link</a:t>
                      </a:r>
                      <a:endParaRPr lang="en-US" sz="700" dirty="0"/>
                    </a:p>
                  </a:txBody>
                  <a:tcPr marL="93130" marR="93130" marT="46565" marB="46565" anchor="ctr"/>
                </a:tc>
                <a:extLst>
                  <a:ext uri="{0D108BD9-81ED-4DB2-BD59-A6C34878D82A}">
                    <a16:rowId xmlns:a16="http://schemas.microsoft.com/office/drawing/2014/main" val="3213604168"/>
                  </a:ext>
                </a:extLst>
              </a:tr>
              <a:tr h="310434">
                <a:tc>
                  <a:txBody>
                    <a:bodyPr/>
                    <a:lstStyle/>
                    <a:p>
                      <a:r>
                        <a:rPr lang="en-US" sz="700" dirty="0"/>
                        <a:t>11</a:t>
                      </a:r>
                    </a:p>
                  </a:txBody>
                  <a:tcPr marL="93130" marR="93130" marT="46565" marB="46565" anchor="ctr"/>
                </a:tc>
                <a:tc>
                  <a:txBody>
                    <a:bodyPr/>
                    <a:lstStyle/>
                    <a:p>
                      <a:r>
                        <a:rPr lang="en-US" sz="700" dirty="0"/>
                        <a:t>Noble Power BI</a:t>
                      </a:r>
                    </a:p>
                  </a:txBody>
                  <a:tcPr marL="93130" marR="93130" marT="46565" marB="46565" anchor="ctr"/>
                </a:tc>
                <a:tc>
                  <a:txBody>
                    <a:bodyPr/>
                    <a:lstStyle/>
                    <a:p>
                      <a:r>
                        <a:rPr lang="en-US" sz="700" dirty="0"/>
                        <a:t>The platform provides a detailed expense analysis platform for each Noble hotels.</a:t>
                      </a:r>
                    </a:p>
                  </a:txBody>
                  <a:tcPr marL="93130" marR="93130" marT="46565" marB="46565" anchor="ctr"/>
                </a:tc>
                <a:tc>
                  <a:txBody>
                    <a:bodyPr/>
                    <a:lstStyle/>
                    <a:p>
                      <a:pPr algn="ctr"/>
                      <a:r>
                        <a:rPr lang="en-US" sz="700" dirty="0"/>
                        <a:t>Monthly</a:t>
                      </a:r>
                    </a:p>
                  </a:txBody>
                  <a:tcPr marL="93130" marR="93130" marT="46565" marB="46565" anchor="ctr"/>
                </a:tc>
                <a:tc>
                  <a:txBody>
                    <a:bodyPr/>
                    <a:lstStyle/>
                    <a:p>
                      <a:pPr algn="ctr"/>
                      <a:r>
                        <a:rPr lang="en-US" sz="700" dirty="0">
                          <a:hlinkClick r:id="rId6"/>
                        </a:rPr>
                        <a:t>Link</a:t>
                      </a:r>
                      <a:endParaRPr lang="en-US" sz="700" dirty="0"/>
                    </a:p>
                  </a:txBody>
                  <a:tcPr marL="93130" marR="93130" marT="46565" marB="46565" anchor="ctr"/>
                </a:tc>
                <a:extLst>
                  <a:ext uri="{0D108BD9-81ED-4DB2-BD59-A6C34878D82A}">
                    <a16:rowId xmlns:a16="http://schemas.microsoft.com/office/drawing/2014/main" val="3282133719"/>
                  </a:ext>
                </a:extLst>
              </a:tr>
              <a:tr h="310434">
                <a:tc>
                  <a:txBody>
                    <a:bodyPr/>
                    <a:lstStyle/>
                    <a:p>
                      <a:r>
                        <a:rPr lang="en-US" sz="700" dirty="0"/>
                        <a:t>12</a:t>
                      </a:r>
                    </a:p>
                  </a:txBody>
                  <a:tcPr marL="93130" marR="93130" marT="46565" marB="46565" anchor="ctr"/>
                </a:tc>
                <a:tc>
                  <a:txBody>
                    <a:bodyPr/>
                    <a:lstStyle/>
                    <a:p>
                      <a:r>
                        <a:rPr lang="en-US" sz="700" dirty="0"/>
                        <a:t>Light House Report</a:t>
                      </a:r>
                    </a:p>
                  </a:txBody>
                  <a:tcPr marL="93130" marR="93130" marT="46565" marB="4656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The platform offers detailed insights into each hotel's performance by segment and includes access to forecasts from the system, the Revenue Management System (RMS), and inputs from the user</a:t>
                      </a:r>
                    </a:p>
                  </a:txBody>
                  <a:tcPr marL="93130" marR="93130" marT="46565" marB="46565"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700" dirty="0"/>
                        <a:t>Daily</a:t>
                      </a:r>
                    </a:p>
                  </a:txBody>
                  <a:tcPr marL="93130" marR="93130" marT="46565" marB="46565" anchor="ctr"/>
                </a:tc>
                <a:tc>
                  <a:txBody>
                    <a:bodyPr/>
                    <a:lstStyle/>
                    <a:p>
                      <a:pPr algn="ctr"/>
                      <a:r>
                        <a:rPr lang="en-US" sz="700" dirty="0">
                          <a:hlinkClick r:id="rId7"/>
                        </a:rPr>
                        <a:t>Link</a:t>
                      </a:r>
                      <a:endParaRPr lang="en-US" sz="700" dirty="0"/>
                    </a:p>
                  </a:txBody>
                  <a:tcPr marL="93130" marR="93130" marT="46565" marB="46565" anchor="ctr"/>
                </a:tc>
                <a:extLst>
                  <a:ext uri="{0D108BD9-81ED-4DB2-BD59-A6C34878D82A}">
                    <a16:rowId xmlns:a16="http://schemas.microsoft.com/office/drawing/2014/main" val="1289881946"/>
                  </a:ext>
                </a:extLst>
              </a:tr>
              <a:tr h="161916">
                <a:tc>
                  <a:txBody>
                    <a:bodyPr/>
                    <a:lstStyle/>
                    <a:p>
                      <a:r>
                        <a:rPr lang="en-US" sz="700" dirty="0"/>
                        <a:t>13</a:t>
                      </a:r>
                    </a:p>
                  </a:txBody>
                  <a:tcPr marL="93130" marR="93130" marT="46565" marB="46565" anchor="ctr"/>
                </a:tc>
                <a:tc>
                  <a:txBody>
                    <a:bodyPr/>
                    <a:lstStyle/>
                    <a:p>
                      <a:r>
                        <a:rPr lang="en-US" sz="700" dirty="0"/>
                        <a:t>Hotel Initiatives Document</a:t>
                      </a:r>
                    </a:p>
                  </a:txBody>
                  <a:tcPr marL="93130" marR="93130" marT="46565" marB="4656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Asset manager documents, the hotels, expense, and revenue initiatives</a:t>
                      </a:r>
                    </a:p>
                  </a:txBody>
                  <a:tcPr marL="93130" marR="93130" marT="46565" marB="46565" anchor="ctr"/>
                </a:tc>
                <a:tc>
                  <a:txBody>
                    <a:bodyPr/>
                    <a:lstStyle/>
                    <a:p>
                      <a:pPr algn="ctr"/>
                      <a:r>
                        <a:rPr lang="en-US" sz="700" dirty="0"/>
                        <a:t>Monthly</a:t>
                      </a:r>
                    </a:p>
                  </a:txBody>
                  <a:tcPr marL="93130" marR="93130" marT="46565" marB="46565" anchor="ctr"/>
                </a:tc>
                <a:tc>
                  <a:txBody>
                    <a:bodyPr/>
                    <a:lstStyle/>
                    <a:p>
                      <a:r>
                        <a:rPr lang="en-US" sz="700" dirty="0"/>
                        <a:t>Asset Management Team Folder/Hotels/Initiatives</a:t>
                      </a:r>
                    </a:p>
                  </a:txBody>
                  <a:tcPr marL="93130" marR="93130" marT="46565" marB="46565" anchor="ctr"/>
                </a:tc>
                <a:extLst>
                  <a:ext uri="{0D108BD9-81ED-4DB2-BD59-A6C34878D82A}">
                    <a16:rowId xmlns:a16="http://schemas.microsoft.com/office/drawing/2014/main" val="1517852145"/>
                  </a:ext>
                </a:extLst>
              </a:tr>
              <a:tr h="366134">
                <a:tc>
                  <a:txBody>
                    <a:bodyPr/>
                    <a:lstStyle/>
                    <a:p>
                      <a:r>
                        <a:rPr lang="en-US" sz="700" dirty="0"/>
                        <a:t>15</a:t>
                      </a:r>
                    </a:p>
                  </a:txBody>
                  <a:tcPr marL="93130" marR="93130" marT="46565" marB="46565" anchor="ctr"/>
                </a:tc>
                <a:tc>
                  <a:txBody>
                    <a:bodyPr/>
                    <a:lstStyle/>
                    <a:p>
                      <a:r>
                        <a:rPr lang="en-US" sz="700" dirty="0"/>
                        <a:t>eCommerce Matrix</a:t>
                      </a:r>
                    </a:p>
                  </a:txBody>
                  <a:tcPr marL="93130" marR="93130" marT="46565" marB="46565"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700" dirty="0"/>
                        <a:t>This report outlines the key e-commerce strategies recommended for each property, indicating the level of engagement by individual hotels in the specified tactics. It emphasizes that not every tactic is actively pursued; instead, participation is aligned with each property's strategic goals and initiatives</a:t>
                      </a:r>
                    </a:p>
                  </a:txBody>
                  <a:tcPr marL="93130" marR="93130" marT="46565" marB="46565" anchor="ctr"/>
                </a:tc>
                <a:tc>
                  <a:txBody>
                    <a:bodyPr/>
                    <a:lstStyle/>
                    <a:p>
                      <a:pPr algn="ctr"/>
                      <a:r>
                        <a:rPr lang="en-US" sz="700" dirty="0"/>
                        <a:t>Monthly</a:t>
                      </a:r>
                    </a:p>
                  </a:txBody>
                  <a:tcPr marL="93130" marR="93130" marT="46565" marB="46565" anchor="ctr"/>
                </a:tc>
                <a:tc>
                  <a:txBody>
                    <a:bodyPr/>
                    <a:lstStyle/>
                    <a:p>
                      <a:r>
                        <a:rPr lang="en-US" sz="700" dirty="0"/>
                        <a:t>Asset Management Team Folder/E- Commerce and Revenue Management</a:t>
                      </a:r>
                    </a:p>
                  </a:txBody>
                  <a:tcPr marL="93130" marR="93130" marT="46565" marB="46565" anchor="ctr"/>
                </a:tc>
                <a:extLst>
                  <a:ext uri="{0D108BD9-81ED-4DB2-BD59-A6C34878D82A}">
                    <a16:rowId xmlns:a16="http://schemas.microsoft.com/office/drawing/2014/main" val="3351291855"/>
                  </a:ext>
                </a:extLst>
              </a:tr>
              <a:tr h="715562">
                <a:tc>
                  <a:txBody>
                    <a:bodyPr/>
                    <a:lstStyle/>
                    <a:p>
                      <a:r>
                        <a:rPr lang="en-US" sz="700" dirty="0"/>
                        <a:t>16</a:t>
                      </a:r>
                    </a:p>
                  </a:txBody>
                  <a:tcPr marL="93130" marR="93130" marT="46565" marB="46565" anchor="ctr"/>
                </a:tc>
                <a:tc>
                  <a:txBody>
                    <a:bodyPr/>
                    <a:lstStyle/>
                    <a:p>
                      <a:r>
                        <a:rPr lang="en-US" sz="700" dirty="0"/>
                        <a:t>OneNote</a:t>
                      </a:r>
                    </a:p>
                  </a:txBody>
                  <a:tcPr marL="93130" marR="93130" marT="46565" marB="46565"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700" dirty="0"/>
                        <a:t>Each one note, notebook contains detailed notes by each as the manager, as a pertains to each of their hotels</a:t>
                      </a:r>
                    </a:p>
                  </a:txBody>
                  <a:tcPr marL="93130" marR="93130" marT="46565" marB="46565" anchor="ctr"/>
                </a:tc>
                <a:tc>
                  <a:txBody>
                    <a:bodyPr/>
                    <a:lstStyle/>
                    <a:p>
                      <a:pPr algn="ctr"/>
                      <a:r>
                        <a:rPr lang="en-US" sz="700" dirty="0"/>
                        <a:t>Monthly</a:t>
                      </a:r>
                    </a:p>
                  </a:txBody>
                  <a:tcPr marL="93130" marR="93130" marT="46565" marB="46565" anchor="ctr"/>
                </a:tc>
                <a:tc>
                  <a:txBody>
                    <a:bodyPr/>
                    <a:lstStyle/>
                    <a:p>
                      <a:pPr marL="171450" indent="-171450">
                        <a:buFont typeface="Arial" panose="020B0604020202020204" pitchFamily="34" charset="0"/>
                        <a:buChar char="•"/>
                      </a:pPr>
                      <a:r>
                        <a:rPr lang="en-US" sz="700" dirty="0">
                          <a:hlinkClick r:id="rId8"/>
                        </a:rPr>
                        <a:t>Steven </a:t>
                      </a:r>
                      <a:endParaRPr lang="en-US" sz="700" dirty="0"/>
                    </a:p>
                    <a:p>
                      <a:pPr marL="171450" indent="-171450">
                        <a:buFont typeface="Arial" panose="020B0604020202020204" pitchFamily="34" charset="0"/>
                        <a:buChar char="•"/>
                      </a:pPr>
                      <a:r>
                        <a:rPr lang="en-US" sz="700" dirty="0">
                          <a:hlinkClick r:id="rId9"/>
                        </a:rPr>
                        <a:t>Lisa</a:t>
                      </a:r>
                      <a:r>
                        <a:rPr lang="en-US" sz="700" dirty="0"/>
                        <a:t> </a:t>
                      </a:r>
                    </a:p>
                    <a:p>
                      <a:pPr marL="171450" indent="-171450">
                        <a:buFont typeface="Arial" panose="020B0604020202020204" pitchFamily="34" charset="0"/>
                        <a:buChar char="•"/>
                      </a:pPr>
                      <a:r>
                        <a:rPr lang="en-US" sz="700" dirty="0">
                          <a:hlinkClick r:id="rId10"/>
                        </a:rPr>
                        <a:t>Denise</a:t>
                      </a:r>
                      <a:r>
                        <a:rPr lang="en-US" sz="700" dirty="0"/>
                        <a:t> </a:t>
                      </a:r>
                    </a:p>
                    <a:p>
                      <a:pPr marL="171450" indent="-171450">
                        <a:buFont typeface="Arial" panose="020B0604020202020204" pitchFamily="34" charset="0"/>
                        <a:buChar char="•"/>
                      </a:pPr>
                      <a:r>
                        <a:rPr lang="en-US" sz="700" dirty="0">
                          <a:hlinkClick r:id="rId11"/>
                        </a:rPr>
                        <a:t>Jody</a:t>
                      </a:r>
                      <a:endParaRPr lang="en-US" sz="700" dirty="0"/>
                    </a:p>
                    <a:p>
                      <a:pPr marL="171450" indent="-171450">
                        <a:buFont typeface="Arial" panose="020B0604020202020204" pitchFamily="34" charset="0"/>
                        <a:buChar char="•"/>
                      </a:pPr>
                      <a:r>
                        <a:rPr lang="en-US" sz="700" dirty="0">
                          <a:hlinkClick r:id="rId12"/>
                        </a:rPr>
                        <a:t>Michael</a:t>
                      </a:r>
                      <a:endParaRPr lang="en-US" sz="700" dirty="0"/>
                    </a:p>
                  </a:txBody>
                  <a:tcPr marL="93130" marR="93130" marT="46565" marB="46565" anchor="ctr"/>
                </a:tc>
                <a:extLst>
                  <a:ext uri="{0D108BD9-81ED-4DB2-BD59-A6C34878D82A}">
                    <a16:rowId xmlns:a16="http://schemas.microsoft.com/office/drawing/2014/main" val="2266284237"/>
                  </a:ext>
                </a:extLst>
              </a:tr>
            </a:tbl>
          </a:graphicData>
        </a:graphic>
      </p:graphicFrame>
      <p:pic>
        <p:nvPicPr>
          <p:cNvPr id="14" name="Picture 13" descr="A building with a dome&#10;&#10;Description automatically generated">
            <a:extLst>
              <a:ext uri="{FF2B5EF4-FFF2-40B4-BE49-F238E27FC236}">
                <a16:creationId xmlns:a16="http://schemas.microsoft.com/office/drawing/2014/main" id="{4C46912C-9589-977E-A8DC-AC19826AFD42}"/>
              </a:ext>
            </a:extLst>
          </p:cNvPr>
          <p:cNvPicPr>
            <a:picLocks noChangeAspect="1"/>
          </p:cNvPicPr>
          <p:nvPr/>
        </p:nvPicPr>
        <p:blipFill>
          <a:blip r:embed="rId13"/>
          <a:stretch>
            <a:fillRect/>
          </a:stretch>
        </p:blipFill>
        <p:spPr>
          <a:xfrm>
            <a:off x="283063" y="196272"/>
            <a:ext cx="757353" cy="627089"/>
          </a:xfrm>
          <a:prstGeom prst="rect">
            <a:avLst/>
          </a:prstGeom>
        </p:spPr>
      </p:pic>
    </p:spTree>
    <p:extLst>
      <p:ext uri="{BB962C8B-B14F-4D97-AF65-F5344CB8AC3E}">
        <p14:creationId xmlns:p14="http://schemas.microsoft.com/office/powerpoint/2010/main" val="36485192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233</TotalTime>
  <Words>830</Words>
  <Application>Microsoft Macintosh PowerPoint</Application>
  <PresentationFormat>Custom</PresentationFormat>
  <Paragraphs>93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Jimenez</dc:creator>
  <cp:lastModifiedBy>John Jimenez</cp:lastModifiedBy>
  <cp:revision>15</cp:revision>
  <dcterms:created xsi:type="dcterms:W3CDTF">2023-12-27T17:47:07Z</dcterms:created>
  <dcterms:modified xsi:type="dcterms:W3CDTF">2023-12-27T21:40:35Z</dcterms:modified>
</cp:coreProperties>
</file>